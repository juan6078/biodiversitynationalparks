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Analysis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00400" y="2377440"/>
            <a:ext cx="2743200" cy="3657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146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species distributions, conservation risk,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E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biodiversity across 4 US National Parks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Smoky Mountains  •  Yosemite  •  Bryce Canyon  •  Yellowstone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485546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Report  | 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datasets spanning 4 National Parks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920240" cy="100584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33272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23,296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51333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Records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(bioparks.csv)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960120"/>
            <a:ext cx="1920240" cy="1005840"/>
          </a:xfrm>
          <a:prstGeom prst="rect">
            <a:avLst/>
          </a:prstGeom>
          <a:solidFill>
            <a:srgbClr val="40916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033272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3,570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23160" y="151333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Records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(species_info.csv)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960120"/>
            <a:ext cx="1920240" cy="100584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033272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26280" y="151333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960120"/>
            <a:ext cx="2194560" cy="1005840"/>
          </a:xfrm>
          <a:prstGeom prst="rect">
            <a:avLst/>
          </a:prstGeom>
          <a:solidFill>
            <a:srgbClr val="E76F5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1033272"/>
            <a:ext cx="21945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629400" y="151333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148840"/>
            <a:ext cx="402336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148840"/>
            <a:ext cx="4023360" cy="320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167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bioparks.csv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542032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Columns: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scientific_name, park_name, observations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Observation range: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321 per record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 observations: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per species–park pair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missing values —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complete dataset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Yellowstone contributed the most total sightings across all species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148840"/>
            <a:ext cx="402336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148840"/>
            <a:ext cx="4023360" cy="3200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167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species_info.csv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542032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Columns: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scientific_name, common_names, conservation_status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 categories: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Plant, Bird, Nonvascular Plant, Mammal, Fish, Reptile, Amphibian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96% of species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listed conservation concern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144 species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at-risk (Endangered, Threatened, Species of Concern, In Recovery)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 Biodiversity Analysis  |  bioparks.csv &amp; species_info.csv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Composition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3,570 species across 7 biological categories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530352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005840"/>
            <a:ext cx="658368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06440" y="100584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65.8%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37960" y="10424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Plants (2,350 sp.) — by far the largest group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06440" y="1682496"/>
            <a:ext cx="658368" cy="402336"/>
          </a:xfrm>
          <a:prstGeom prst="rect">
            <a:avLst/>
          </a:prstGeom>
          <a:solidFill>
            <a:srgbClr val="4091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682496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37960" y="17190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 (480 sp.) — second most diverse category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06440" y="2359152"/>
            <a:ext cx="6583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2359152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37960" y="23957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Nonvascular Plants (333 sp.) — mosses, liverworts, lichens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06440" y="3035808"/>
            <a:ext cx="658368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3035808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37960" y="30723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(123 sp.) — freshwater species from rivers &amp; lakes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06440" y="3712464"/>
            <a:ext cx="658368" cy="402336"/>
          </a:xfrm>
          <a:prstGeom prst="rect">
            <a:avLst/>
          </a:prstGeom>
          <a:solidFill>
            <a:srgbClr val="1A2E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3712464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37960" y="3749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Amphibians &amp; Reptiles — sensitive indicators of ecosystem health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 Biodiversity Analysis  |  bioparks.csv &amp; species_info.csv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Status Distribution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species are unlisted — but risk concentrates in specific categories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512064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1005840"/>
            <a:ext cx="3154680" cy="566928"/>
          </a:xfrm>
          <a:prstGeom prst="rect">
            <a:avLst/>
          </a:prstGeom>
          <a:solidFill>
            <a:srgbClr val="E8ECE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06440" y="1024128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3,426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92240" y="102412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Listed Concern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715000" y="1719072"/>
            <a:ext cx="3154680" cy="566928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173736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92240" y="173736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of Concern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15000" y="2432304"/>
            <a:ext cx="3154680" cy="566928"/>
          </a:xfrm>
          <a:prstGeom prst="rect">
            <a:avLst/>
          </a:prstGeom>
          <a:solidFill>
            <a:srgbClr val="E76F5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06440" y="2450592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92240" y="245059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Endangered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715000" y="3145536"/>
            <a:ext cx="3154680" cy="566928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06440" y="3163824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492240" y="316382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Threatened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715000" y="3858768"/>
            <a:ext cx="3154680" cy="566928"/>
          </a:xfrm>
          <a:prstGeom prst="rect">
            <a:avLst/>
          </a:prstGeom>
          <a:solidFill>
            <a:srgbClr val="40916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806440" y="3877056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492240" y="3877056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Recovery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 Biodiversity Analysis  |  bioparks.csv &amp; species_info.csv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Endangered Rate by Species Category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 and Mammals face the highest proportional risk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548640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9320" y="914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89320" y="1325880"/>
            <a:ext cx="201168" cy="20116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12984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 lead at 15.4% at-risk — nearly 1 in 6 bird species is flagged.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89320" y="2011680"/>
            <a:ext cx="201168" cy="20116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3640" y="19842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Mammals follow at 12.1%, reflecting well-documented pressures on vertebrates.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2697480"/>
            <a:ext cx="201168" cy="20116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26700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Plants have the lowest rate (1.1%) but the largest raw count.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3383280"/>
            <a:ext cx="201168" cy="20116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33558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Amphibians (9.9%) are worryingly high given their role as ecosystem indicators.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4069080"/>
            <a:ext cx="201168" cy="20116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40416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mean at-risk rate across all categories is ~4.0%.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 Biodiversity Analysis  |  bioparks.csv &amp; species_info.csv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— Chi-Square Test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association between species category and endangered status significant?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530352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0" y="914400"/>
            <a:ext cx="3017520" cy="96012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9144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255.97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  |  df = 6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852160" y="19933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2377440"/>
            <a:ext cx="54864" cy="4754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237744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extremely low p-value (&lt;0.001) means we reject the null hypothesis that species category and conservation risk are independent.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2999232"/>
            <a:ext cx="54864" cy="4754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2999232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observed endangered rates differ significantly from what we'd expect if risk were distributed evenly.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52160" y="3621024"/>
            <a:ext cx="54864" cy="4754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3621024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 and Mammals are disproportionately over-represented in at-risk categories relative to their population share.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4242816"/>
            <a:ext cx="54864" cy="4754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4242816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Plants are under-represented despite having the largest species count.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 Biodiversity Analysis  |  bioparks.csv &amp; species_info.csv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Conservationists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chi-square results and endangered rate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60520" cy="169164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241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Prioritise Bird &amp; Mammal Conservation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408176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15.4% and 12.1% at-risk rates respectively, and chi-square confirming statistical significance, these categories warrant immediate targeted intervention programs.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60520" cy="169164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6052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0241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Invest in Amphibian Monitoring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92040" y="1408176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Amphibians (9.9% at-risk) serve as sensitive ecosystem barometers. Declines often precede broader ecological collapse — early monitoring yields outsized protective value.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4160520" cy="169164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80360"/>
            <a:ext cx="4160520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8986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Address Invasive Species Urgently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282696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parks show invasive species topping observation counts (Eurasian collared-dove, velvet grass, catsear). These displace native fauna and elevate risk for already-vulnerable species.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160520" cy="169164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80360"/>
            <a:ext cx="4160520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8986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Expand Species Data Collection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3282696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 lacks temporal trends and native/invasive classification. Longitudinal datasets with habitat metadata would enable predictive risk modelling and earlier intervention.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 Biodiversity Analysis  |  bioparks.csv &amp; species_info.csv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Determination — Foot &amp; Mouth Disease Study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a study is needed to detect a meaningful difference in prevalence?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548640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914400"/>
            <a:ext cx="2880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914400"/>
            <a:ext cx="2880360" cy="29260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932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Parameters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80760" y="1261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prevalence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955280" y="1261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80760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exposed prevalence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55280" y="15361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80760" y="1810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power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955280" y="18105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80760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n per group (α=0.05)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55280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89320" y="2514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89320" y="2852928"/>
            <a:ext cx="54864" cy="40233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28529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α = 0.05 and 80% power, a minimum of 141 animals per group are required.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989320" y="3374136"/>
            <a:ext cx="54864" cy="40233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0" y="33741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exposed prevalence increases (larger effect), the required sample size drops sharply.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989320" y="3895344"/>
            <a:ext cx="54864" cy="40233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38953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significance thresholds (α = 0.01) demand ~50% more animals per group.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989320" y="4416552"/>
            <a:ext cx="54864" cy="40233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26480" y="44165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estimates assume simple random sampling — clustering or stratification would change results.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 Biodiversity Analysis  |  bioparks.csv &amp; species_info.csv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by National Park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Yellowstone dominates total wildlife sightings across all species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530352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914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Highlights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52160" y="1325880"/>
            <a:ext cx="3017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325880"/>
            <a:ext cx="73152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1344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Yellowstone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1609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total observations — likely driven by visitor volume and park size (2.2M acres).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52160" y="2194560"/>
            <a:ext cx="3017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52160" y="2194560"/>
            <a:ext cx="73152" cy="7315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Yosemite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35040" y="24780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second — diverse habitats from valley floor to alpine support broad species variety.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3063240"/>
            <a:ext cx="3017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3063240"/>
            <a:ext cx="73152" cy="7315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3081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Smoky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35040" y="33467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species diversity in the eastern US despite lower observation totals.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852160" y="3931920"/>
            <a:ext cx="3017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52160" y="3931920"/>
            <a:ext cx="73152" cy="731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0" y="3950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Bryce Canyon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35040" y="42153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park; unique high-desert ecosystem with distinct endemic species.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 Biodiversity Analysis  |  bioparks.csv &amp; species_info.csv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Most-Observed Species Across All Parks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species dominate the top 8 — a critical conservation signal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68680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544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All top-8 most-observed species are non-native or invasive: collared doves, feral pigeons, velvet grass, and catsear out-compete native species for habitat and resources.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 Biodiversity Analysis  |  bioparks.csv &amp; species_info.csv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Biodiversity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Four-panel view: totals, distributions, species breakdown, and park leaders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58368"/>
            <a:ext cx="859536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 Biodiversity Analysis  |  bioparks.csv &amp; species_info.csv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Takeaways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about biodiversity and conservation risk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91440" cy="7132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046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species dominate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most-observed species in every park is non-native, signalling potential displacement of native biodiversity.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00200"/>
            <a:ext cx="91440" cy="7132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627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 &amp; Mammals most at risk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19019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confirmed (p&lt;0.001): these categories are significantly over-represented in endangered listings relative to their population share.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423160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23160"/>
            <a:ext cx="91440" cy="71323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450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bias shapes the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27249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High-observation parks reflect visitor volume as much as biodiversity richness. Normalised per-hectare metrics are needed for fair comparisons.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91440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273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Amphibians are a warning 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3547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9.9% endangered rate, amphibians — sensitive ecosystem indicators — should trigger proactive habitat monitoring.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069080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069080"/>
            <a:ext cx="91440" cy="7132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096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enrichment would unlock more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43708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nativity flags, IUCN status, temporal data, and taxonomic depth would enable predictive modelling and earlier risk detection.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 Biodiversity Analysis  |  bioparks.csv &amp; species_info.csv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200400" y="2011680"/>
            <a:ext cx="2743200" cy="457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biodiversity starts with understanding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0175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</a:t>
            </a:r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bioparks.csv  |  species_info.csv  |  4 US National Parks
</a:t>
            </a:r>
            <a:pPr algn="ctr"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</a:t>
            </a:r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(scipy.stats)  |  Power Analysis  |  Matplotlib / Seaborn
</a:t>
            </a:r>
            <a:pPr algn="ctr"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</a:t>
            </a:r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written analysis available in bioparks_report.docx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 Biodiversity Analysis  |  2024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Parks Biodiversity Analysis</dc:title>
  <dc:subject>PptxGenJS Presentation</dc:subject>
  <dc:creator>PptxGenJS</dc:creator>
  <cp:lastModifiedBy>PptxGenJS</cp:lastModifiedBy>
  <cp:revision>1</cp:revision>
  <dcterms:created xsi:type="dcterms:W3CDTF">2026-03-20T11:48:21Z</dcterms:created>
  <dcterms:modified xsi:type="dcterms:W3CDTF">2026-03-20T11:48:21Z</dcterms:modified>
</cp:coreProperties>
</file>